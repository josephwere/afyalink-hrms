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</p:sldIdLst>
  <p:sldSz cx="12192000" cy="6858000" type="screen16x9"/>
  <p:notesSz cx="6858000" cy="9144000"/>
  <p:defaultTextStyle/>
</p:presentation>
</file>

<file path=ppt/presProps.xml><?xml version="1.0" encoding="utf-8"?>
<p:presProps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p:tblStyleLst xmlns:a="http://schemas.openxmlformats.org/drawingml/2006/main" xmlns:r="http://schemas.openxmlformats.org/officeDocument/2006/relationships" xmlns:p="http://schemas.openxmlformats.org/presentationml/2006/main"/>
</file>

<file path=ppt/viewProps.xml><?xml version="1.0" encoding="utf-8"?>
<p:viewProps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ableStyles" Target="tableStyles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FFFFF"/>
        </a:solidFill>
      </p:bgPr>
    </p:bg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ro"/>
          <p:cNvSpPr/>
          <p:nvPr/>
        </p:nvSpPr>
        <p:spPr>
          <a:xfrm>
            <a:off x="530000" y="420000"/>
            <a:ext cx="11100000" cy="17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Accent"/>
          <p:cNvSpPr/>
          <p:nvPr/>
        </p:nvSpPr>
        <p:spPr>
          <a:xfrm>
            <a:off x="530000" y="2600000"/>
            <a:ext cx="11100000" cy="12000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RibbonBlack"/>
          <p:cNvSpPr/>
          <p:nvPr/>
        </p:nvSpPr>
        <p:spPr>
          <a:xfrm>
            <a:off x="0" y="6598000"/>
            <a:ext cx="12192000" cy="7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RibbonRed"/>
          <p:cNvSpPr/>
          <p:nvPr/>
        </p:nvSpPr>
        <p:spPr>
          <a:xfrm>
            <a:off x="0" y="6688000"/>
            <a:ext cx="12192000" cy="7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RibbonGreen"/>
          <p:cNvSpPr/>
          <p:nvPr/>
        </p:nvSpPr>
        <p:spPr>
          <a:xfrm>
            <a:off x="0" y="6778000"/>
            <a:ext cx="12192000" cy="7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Brand"/>
          <p:cNvSpPr txBox="1"/>
          <p:nvPr/>
        </p:nvSpPr>
        <p:spPr>
          <a:xfrm>
            <a:off x="900000" y="700000"/>
            <a:ext cx="25000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FFFFFF"/>
                </a:solidFill>
              </a:rPr>
              <a:t>AFYALINK</a:t>
            </a:r>
            <a:endParaRPr lang="en-US" sz="2400" dirty="0"/>
          </a:p>
        </p:txBody>
      </p:sp>
      <p:sp>
        <p:nvSpPr>
          <p:cNvPr id="9" name="Title"/>
          <p:cNvSpPr txBox="1"/>
          <p:nvPr/>
        </p:nvSpPr>
        <p:spPr>
          <a:xfrm>
            <a:off x="900000" y="1150000"/>
            <a:ext cx="9500000" cy="7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800" dirty="0" smtClean="0" b="1">
                <a:solidFill>
                  <a:srgbClr val="FFFFFF"/>
                </a:solidFill>
              </a:rPr>
              <a:t>AFYALINK</a:t>
            </a:r>
            <a:endParaRPr lang="en-US" sz="2800" dirty="0"/>
          </a:p>
        </p:txBody>
      </p:sp>
      <p:sp>
        <p:nvSpPr>
          <p:cNvPr id="10" name="Subtitle"/>
          <p:cNvSpPr txBox="1"/>
          <p:nvPr/>
        </p:nvSpPr>
        <p:spPr>
          <a:xfrm>
            <a:off x="900000" y="1800000"/>
            <a:ext cx="9000000" cy="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700" dirty="0" smtClean="0">
                <a:solidFill>
                  <a:srgbClr val="CBD5E1"/>
                </a:solidFill>
              </a:rPr>
              <a:t>Investor Pitch Deck</a:t>
            </a:r>
            <a:endParaRPr lang="en-US" sz="1700" dirty="0"/>
          </a:p>
        </p:txBody>
      </p:sp>
      <p:sp>
        <p:nvSpPr>
          <p:cNvPr id="11" name="Deck"/>
          <p:cNvSpPr txBox="1"/>
          <p:nvPr/>
        </p:nvSpPr>
        <p:spPr>
          <a:xfrm>
            <a:off x="900000" y="2850000"/>
            <a:ext cx="3000000" cy="4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 smtClean="0" b="1">
                <a:solidFill>
                  <a:srgbClr val="FFFFFF"/>
                </a:solidFill>
              </a:rPr>
              <a:t>AfyaLink proposal deck</a:t>
            </a:r>
            <a:endParaRPr lang="en-US" sz="1600" dirty="0"/>
          </a:p>
        </p:txBody>
      </p:sp>
      <p:sp>
        <p:nvSpPr>
          <p:cNvPr id="12" name="Founder"/>
          <p:cNvSpPr txBox="1"/>
          <p:nvPr/>
        </p:nvSpPr>
        <p:spPr>
          <a:xfrm>
            <a:off x="900000" y="4200000"/>
            <a:ext cx="4500000" cy="7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1F2937"/>
                </a:solidFill>
              </a:rPr>
              <a:t>JOSEPH OGWE WERE
Founder &amp; CEO
0712462780
werejosephogwe@gmail.com</a:t>
            </a:r>
            <a:endParaRPr lang="en-US" sz="1400" dirty="0"/>
          </a:p>
        </p:txBody>
      </p:sp>
      <p:sp>
        <p:nvSpPr>
          <p:cNvPr id="13" name="Company"/>
          <p:cNvSpPr txBox="1"/>
          <p:nvPr/>
        </p:nvSpPr>
        <p:spPr>
          <a:xfrm>
            <a:off x="6200000" y="4200000"/>
            <a:ext cx="4200000" cy="7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1F2937"/>
                </a:solidFill>
              </a:rPr>
              <a:t>AfyaLink by Goldege
0740564077
goldegelabs@gmail.com
Nairobi, Kenya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Investor Pitch Deck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166534"/>
                </a:solidFill>
              </a:rPr>
              <a:t>Investor Pitch Deck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H39"/>
          <p:cNvSpPr txBox="1"/>
          <p:nvPr/>
        </p:nvSpPr>
        <p:spPr>
          <a:xfrm>
            <a:off x="800000" y="1400000"/>
            <a:ext cx="9800000" cy="2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 smtClean="0" b="1">
                <a:solidFill>
                  <a:srgbClr val="0F172A"/>
                </a:solidFill>
              </a:rPr>
              <a:t>AfyaLink</a:t>
            </a:r>
            <a:endParaRPr lang="en-US" sz="1600" dirty="0"/>
          </a:p>
        </p:txBody>
      </p:sp>
      <p:sp>
        <p:nvSpPr>
          <p:cNvPr id="10" name="Item10"/>
          <p:cNvSpPr txBox="1"/>
          <p:nvPr/>
        </p:nvSpPr>
        <p:spPr>
          <a:xfrm>
            <a:off x="900000" y="172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Healthcare Operations Infrastructure for Africa</a:t>
            </a:r>
            <a:endParaRPr lang="en-US" sz="1400" dirty="0"/>
          </a:p>
        </p:txBody>
      </p:sp>
      <p:sp>
        <p:nvSpPr>
          <p:cNvPr id="11" name="Item11"/>
          <p:cNvSpPr txBox="1"/>
          <p:nvPr/>
        </p:nvSpPr>
        <p:spPr>
          <a:xfrm>
            <a:off x="900000" y="208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Executive Summary</a:t>
            </a:r>
            <a:endParaRPr lang="en-US" sz="1400" dirty="0"/>
          </a:p>
        </p:txBody>
      </p:sp>
      <p:sp>
        <p:nvSpPr>
          <p:cNvPr id="12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Investor Pitch Deck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166534"/>
                </a:solidFill>
              </a:rPr>
              <a:t>Investor Pitch Deck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Item9"/>
          <p:cNvSpPr txBox="1"/>
          <p:nvPr/>
        </p:nvSpPr>
        <p:spPr>
          <a:xfrm>
            <a:off x="900000" y="140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AfyaLink is a healthcare operations platform that unifies hospital administration, workforce management, patient flow, diagnostics coordination, pharmacy workflows, reporting, and compliance controls in one product.</a:t>
            </a:r>
            <a:endParaRPr lang="en-US" sz="1400" dirty="0"/>
          </a:p>
        </p:txBody>
      </p:sp>
      <p:sp>
        <p:nvSpPr>
          <p:cNvPr id="10" name="Item10"/>
          <p:cNvSpPr txBox="1"/>
          <p:nvPr/>
        </p:nvSpPr>
        <p:spPr>
          <a:xfrm>
            <a:off x="900000" y="176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The platform is designed for hospitals and multi-facility healthcare groups that need operational visibility, role-based workflows, and interoperable continuity without stitching together many disconnected tools.</a:t>
            </a:r>
            <a:endParaRPr lang="en-US" sz="1400" dirty="0"/>
          </a:p>
        </p:txBody>
      </p:sp>
      <p:sp>
        <p:nvSpPr>
          <p:cNvPr id="11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Investor Pitch Deck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166534"/>
                </a:solidFill>
              </a:rPr>
              <a:t>Investor Pitch Deck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Item9"/>
          <p:cNvSpPr txBox="1"/>
          <p:nvPr/>
        </p:nvSpPr>
        <p:spPr>
          <a:xfrm>
            <a:off x="900000" y="140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AfyaLink is positioned as digital infrastructure for healthcare delivery, not just a single-department application.</a:t>
            </a:r>
            <a:endParaRPr lang="en-US" sz="1400" dirty="0"/>
          </a:p>
        </p:txBody>
      </p:sp>
      <p:sp>
        <p:nvSpPr>
          <p:cNvPr id="10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Investor Pitch Deck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166534"/>
                </a:solidFill>
              </a:rPr>
              <a:t>1. Vision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Item9"/>
          <p:cNvSpPr txBox="1"/>
          <p:nvPr/>
        </p:nvSpPr>
        <p:spPr>
          <a:xfrm>
            <a:off x="900000" y="140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To become a leading healthcare operations platform for African hospitals and health networks by combining clinical workflow coordination, workforce systems, governance, and continuity in one scalable platform.</a:t>
            </a:r>
            <a:endParaRPr lang="en-US" sz="1400" dirty="0"/>
          </a:p>
        </p:txBody>
      </p:sp>
      <p:sp>
        <p:nvSpPr>
          <p:cNvPr id="10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Investor Pitch Deck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166534"/>
                </a:solidFill>
              </a:rPr>
              <a:t>2. Market Problem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Item9"/>
          <p:cNvSpPr txBox="1"/>
          <p:nvPr/>
        </p:nvSpPr>
        <p:spPr>
          <a:xfrm>
            <a:off x="900000" y="140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Healthcare providers face persistent operational fragmentation:</a:t>
            </a:r>
            <a:endParaRPr lang="en-US" sz="1400" dirty="0"/>
          </a:p>
        </p:txBody>
      </p:sp>
      <p:sp>
        <p:nvSpPr>
          <p:cNvPr id="10" name="Item10"/>
          <p:cNvSpPr txBox="1"/>
          <p:nvPr/>
        </p:nvSpPr>
        <p:spPr>
          <a:xfrm>
            <a:off x="900000" y="176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Multiple disconnected systems for HR, operations, diagnostics, and care delivery</a:t>
            </a:r>
            <a:endParaRPr lang="en-US" sz="1400" dirty="0"/>
          </a:p>
        </p:txBody>
      </p:sp>
      <p:sp>
        <p:nvSpPr>
          <p:cNvPr id="11" name="Item11"/>
          <p:cNvSpPr txBox="1"/>
          <p:nvPr/>
        </p:nvSpPr>
        <p:spPr>
          <a:xfrm>
            <a:off x="900000" y="212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Weak visibility into bottlenecks across departments</a:t>
            </a:r>
            <a:endParaRPr lang="en-US" sz="1400" dirty="0"/>
          </a:p>
        </p:txBody>
      </p:sp>
      <p:sp>
        <p:nvSpPr>
          <p:cNvPr id="12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Investor Pitch Deck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166534"/>
                </a:solidFill>
              </a:rPr>
              <a:t>2. Market Problem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Item9"/>
          <p:cNvSpPr txBox="1"/>
          <p:nvPr/>
        </p:nvSpPr>
        <p:spPr>
          <a:xfrm>
            <a:off x="900000" y="140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Poor inter-facility continuity and follow-up coordination</a:t>
            </a:r>
            <a:endParaRPr lang="en-US" sz="1400" dirty="0"/>
          </a:p>
        </p:txBody>
      </p:sp>
      <p:sp>
        <p:nvSpPr>
          <p:cNvPr id="10" name="Item10"/>
          <p:cNvSpPr txBox="1"/>
          <p:nvPr/>
        </p:nvSpPr>
        <p:spPr>
          <a:xfrm>
            <a:off x="900000" y="176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Compliance and audit burdens that grow with scale</a:t>
            </a:r>
            <a:endParaRPr lang="en-US" sz="1400" dirty="0"/>
          </a:p>
        </p:txBody>
      </p:sp>
      <p:sp>
        <p:nvSpPr>
          <p:cNvPr id="11" name="Item11"/>
          <p:cNvSpPr txBox="1"/>
          <p:nvPr/>
        </p:nvSpPr>
        <p:spPr>
          <a:xfrm>
            <a:off x="900000" y="212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Limited software built for the day-to-day realities of African hospital operations</a:t>
            </a:r>
            <a:endParaRPr lang="en-US" sz="1400" dirty="0"/>
          </a:p>
        </p:txBody>
      </p:sp>
      <p:sp>
        <p:nvSpPr>
          <p:cNvPr id="12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Investor Pitch Deck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166534"/>
                </a:solidFill>
              </a:rPr>
              <a:t>2. Market Problem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Item9"/>
          <p:cNvSpPr txBox="1"/>
          <p:nvPr/>
        </p:nvSpPr>
        <p:spPr>
          <a:xfrm>
            <a:off x="900000" y="140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The result is slower patient flow, higher administrative load, and reduced operating efficiency.</a:t>
            </a:r>
            <a:endParaRPr lang="en-US" sz="1400" dirty="0"/>
          </a:p>
        </p:txBody>
      </p:sp>
      <p:sp>
        <p:nvSpPr>
          <p:cNvPr id="10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Investor Pitch Deck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166534"/>
                </a:solidFill>
              </a:rPr>
              <a:t>3. Our Solution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Item9"/>
          <p:cNvSpPr txBox="1"/>
          <p:nvPr/>
        </p:nvSpPr>
        <p:spPr>
          <a:xfrm>
            <a:off x="900000" y="140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AfyaLink provides one platform for:</a:t>
            </a:r>
            <a:endParaRPr lang="en-US" sz="1400" dirty="0"/>
          </a:p>
        </p:txBody>
      </p:sp>
      <p:sp>
        <p:nvSpPr>
          <p:cNvPr id="10" name="Item10"/>
          <p:cNvSpPr txBox="1"/>
          <p:nvPr/>
        </p:nvSpPr>
        <p:spPr>
          <a:xfrm>
            <a:off x="900000" y="176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Hospital administration and branch oversight</a:t>
            </a:r>
            <a:endParaRPr lang="en-US" sz="1400" dirty="0"/>
          </a:p>
        </p:txBody>
      </p:sp>
      <p:sp>
        <p:nvSpPr>
          <p:cNvPr id="11" name="Item11"/>
          <p:cNvSpPr txBox="1"/>
          <p:nvPr/>
        </p:nvSpPr>
        <p:spPr>
          <a:xfrm>
            <a:off x="900000" y="212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Staff registration, approvals, training, payroll, and workforce workflows</a:t>
            </a:r>
            <a:endParaRPr lang="en-US" sz="1400" dirty="0"/>
          </a:p>
        </p:txBody>
      </p:sp>
      <p:sp>
        <p:nvSpPr>
          <p:cNvPr id="12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Investor Pitch Deck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166534"/>
                </a:solidFill>
              </a:rPr>
              <a:t>3. Our Solution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Item9"/>
          <p:cNvSpPr txBox="1"/>
          <p:nvPr/>
        </p:nvSpPr>
        <p:spPr>
          <a:xfrm>
            <a:off x="900000" y="140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Appointments, consultations, admissions, and departmental coordination</a:t>
            </a:r>
            <a:endParaRPr lang="en-US" sz="1400" dirty="0"/>
          </a:p>
        </p:txBody>
      </p:sp>
      <p:sp>
        <p:nvSpPr>
          <p:cNvPr id="10" name="Item10"/>
          <p:cNvSpPr txBox="1"/>
          <p:nvPr/>
        </p:nvSpPr>
        <p:spPr>
          <a:xfrm>
            <a:off x="900000" y="176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Lab, pharmacy, radiology, therapy, and front-office flows</a:t>
            </a:r>
            <a:endParaRPr lang="en-US" sz="1400" dirty="0"/>
          </a:p>
        </p:txBody>
      </p:sp>
      <p:sp>
        <p:nvSpPr>
          <p:cNvPr id="11" name="Item11"/>
          <p:cNvSpPr txBox="1"/>
          <p:nvPr/>
        </p:nvSpPr>
        <p:spPr>
          <a:xfrm>
            <a:off x="900000" y="212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Patient, referral, and community continuity support</a:t>
            </a:r>
            <a:endParaRPr lang="en-US" sz="1400" dirty="0"/>
          </a:p>
        </p:txBody>
      </p:sp>
      <p:sp>
        <p:nvSpPr>
          <p:cNvPr id="12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Investor Pitch Deck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166534"/>
                </a:solidFill>
              </a:rPr>
              <a:t>3. Our Solution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Item9"/>
          <p:cNvSpPr txBox="1"/>
          <p:nvPr/>
        </p:nvSpPr>
        <p:spPr>
          <a:xfrm>
            <a:off x="900000" y="140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Audit, security, readiness, and observability controls</a:t>
            </a:r>
            <a:endParaRPr lang="en-US" sz="1400" dirty="0"/>
          </a:p>
        </p:txBody>
      </p:sp>
      <p:sp>
        <p:nvSpPr>
          <p:cNvPr id="10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Investor Pitch Deck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166534"/>
                </a:solidFill>
              </a:rPr>
              <a:t>4. Why AfyaLink Wins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H39"/>
          <p:cNvSpPr txBox="1"/>
          <p:nvPr/>
        </p:nvSpPr>
        <p:spPr>
          <a:xfrm>
            <a:off x="800000" y="1400000"/>
            <a:ext cx="9800000" cy="2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 smtClean="0" b="1">
                <a:solidFill>
                  <a:srgbClr val="0F172A"/>
                </a:solidFill>
              </a:rPr>
              <a:t>4.1 Role Depth</a:t>
            </a:r>
            <a:endParaRPr lang="en-US" sz="1600" dirty="0"/>
          </a:p>
        </p:txBody>
      </p:sp>
      <p:sp>
        <p:nvSpPr>
          <p:cNvPr id="10" name="Item10"/>
          <p:cNvSpPr txBox="1"/>
          <p:nvPr/>
        </p:nvSpPr>
        <p:spPr>
          <a:xfrm>
            <a:off x="900000" y="172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Supports a broad operational surface across admins, doctors, nurses, lab staff, pharmacy, HR, payroll, security, community health workers, and patients.</a:t>
            </a:r>
            <a:endParaRPr lang="en-US" sz="1400" dirty="0"/>
          </a:p>
        </p:txBody>
      </p:sp>
      <p:sp>
        <p:nvSpPr>
          <p:cNvPr id="11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Investor Pitch Deck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166534"/>
                </a:solidFill>
              </a:rPr>
              <a:t>4. Why AfyaLink Wins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H39"/>
          <p:cNvSpPr txBox="1"/>
          <p:nvPr/>
        </p:nvSpPr>
        <p:spPr>
          <a:xfrm>
            <a:off x="800000" y="1400000"/>
            <a:ext cx="9800000" cy="2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 smtClean="0" b="1">
                <a:solidFill>
                  <a:srgbClr val="0F172A"/>
                </a:solidFill>
              </a:rPr>
              <a:t>4.2 Workflow Breadth</a:t>
            </a:r>
            <a:endParaRPr lang="en-US" sz="1600" dirty="0"/>
          </a:p>
        </p:txBody>
      </p:sp>
      <p:sp>
        <p:nvSpPr>
          <p:cNvPr id="10" name="Item10"/>
          <p:cNvSpPr txBox="1"/>
          <p:nvPr/>
        </p:nvSpPr>
        <p:spPr>
          <a:xfrm>
            <a:off x="900000" y="172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Extends from workforce and administration to clinical operations and continuity workflows.</a:t>
            </a:r>
            <a:endParaRPr lang="en-US" sz="1400" dirty="0"/>
          </a:p>
        </p:txBody>
      </p:sp>
      <p:sp>
        <p:nvSpPr>
          <p:cNvPr id="11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Investor Pitch Deck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166534"/>
                </a:solidFill>
              </a:rPr>
              <a:t>4. Why AfyaLink Wins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H39"/>
          <p:cNvSpPr txBox="1"/>
          <p:nvPr/>
        </p:nvSpPr>
        <p:spPr>
          <a:xfrm>
            <a:off x="800000" y="1400000"/>
            <a:ext cx="9800000" cy="2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 smtClean="0" b="1">
                <a:solidFill>
                  <a:srgbClr val="0F172A"/>
                </a:solidFill>
              </a:rPr>
              <a:t>4.3 Built-In Governance</a:t>
            </a:r>
            <a:endParaRPr lang="en-US" sz="1600" dirty="0"/>
          </a:p>
        </p:txBody>
      </p:sp>
      <p:sp>
        <p:nvSpPr>
          <p:cNvPr id="10" name="Item10"/>
          <p:cNvSpPr txBox="1"/>
          <p:nvPr/>
        </p:nvSpPr>
        <p:spPr>
          <a:xfrm>
            <a:off x="900000" y="172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Includes readiness gates, auditability, access control patterns, DR planning, and operational verification assets.</a:t>
            </a:r>
            <a:endParaRPr lang="en-US" sz="1400" dirty="0"/>
          </a:p>
        </p:txBody>
      </p:sp>
      <p:sp>
        <p:nvSpPr>
          <p:cNvPr id="11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Investor Pitch Deck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166534"/>
                </a:solidFill>
              </a:rPr>
              <a:t>4. Why AfyaLink Wins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H39"/>
          <p:cNvSpPr txBox="1"/>
          <p:nvPr/>
        </p:nvSpPr>
        <p:spPr>
          <a:xfrm>
            <a:off x="800000" y="1400000"/>
            <a:ext cx="9800000" cy="2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 smtClean="0" b="1">
                <a:solidFill>
                  <a:srgbClr val="0F172A"/>
                </a:solidFill>
              </a:rPr>
              <a:t>4.4 Expansion Path</a:t>
            </a:r>
            <a:endParaRPr lang="en-US" sz="1600" dirty="0"/>
          </a:p>
        </p:txBody>
      </p:sp>
      <p:sp>
        <p:nvSpPr>
          <p:cNvPr id="10" name="Item10"/>
          <p:cNvSpPr txBox="1"/>
          <p:nvPr/>
        </p:nvSpPr>
        <p:spPr>
          <a:xfrm>
            <a:off x="900000" y="172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Can grow from single hospitals to groups, counties, and regional health networks.</a:t>
            </a:r>
            <a:endParaRPr lang="en-US" sz="1400" dirty="0"/>
          </a:p>
        </p:txBody>
      </p:sp>
      <p:sp>
        <p:nvSpPr>
          <p:cNvPr id="11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Investor Pitch Deck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166534"/>
                </a:solidFill>
              </a:rPr>
              <a:t>5. Product Positioning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Item9"/>
          <p:cNvSpPr txBox="1"/>
          <p:nvPr/>
        </p:nvSpPr>
        <p:spPr>
          <a:xfrm>
            <a:off x="900000" y="140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AfyaLink sits at the intersection of:</a:t>
            </a:r>
            <a:endParaRPr lang="en-US" sz="1400" dirty="0"/>
          </a:p>
        </p:txBody>
      </p:sp>
      <p:sp>
        <p:nvSpPr>
          <p:cNvPr id="10" name="Item10"/>
          <p:cNvSpPr txBox="1"/>
          <p:nvPr/>
        </p:nvSpPr>
        <p:spPr>
          <a:xfrm>
            <a:off x="900000" y="176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Hospital management systems</a:t>
            </a:r>
            <a:endParaRPr lang="en-US" sz="1400" dirty="0"/>
          </a:p>
        </p:txBody>
      </p:sp>
      <p:sp>
        <p:nvSpPr>
          <p:cNvPr id="11" name="Item11"/>
          <p:cNvSpPr txBox="1"/>
          <p:nvPr/>
        </p:nvSpPr>
        <p:spPr>
          <a:xfrm>
            <a:off x="900000" y="212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Workforce and HR management</a:t>
            </a:r>
            <a:endParaRPr lang="en-US" sz="1400" dirty="0"/>
          </a:p>
        </p:txBody>
      </p:sp>
      <p:sp>
        <p:nvSpPr>
          <p:cNvPr id="12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Investor Pitch Deck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166534"/>
                </a:solidFill>
              </a:rPr>
              <a:t>5. Product Positioning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Item9"/>
          <p:cNvSpPr txBox="1"/>
          <p:nvPr/>
        </p:nvSpPr>
        <p:spPr>
          <a:xfrm>
            <a:off x="900000" y="140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Care operations and patient flow</a:t>
            </a:r>
            <a:endParaRPr lang="en-US" sz="1400" dirty="0"/>
          </a:p>
        </p:txBody>
      </p:sp>
      <p:sp>
        <p:nvSpPr>
          <p:cNvPr id="10" name="Item10"/>
          <p:cNvSpPr txBox="1"/>
          <p:nvPr/>
        </p:nvSpPr>
        <p:spPr>
          <a:xfrm>
            <a:off x="900000" y="176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Compliance and governance infrastructure</a:t>
            </a:r>
            <a:endParaRPr lang="en-US" sz="1400" dirty="0"/>
          </a:p>
        </p:txBody>
      </p:sp>
      <p:sp>
        <p:nvSpPr>
          <p:cNvPr id="11" name="Item11"/>
          <p:cNvSpPr txBox="1"/>
          <p:nvPr/>
        </p:nvSpPr>
        <p:spPr>
          <a:xfrm>
            <a:off x="900000" y="212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Future AI-assisted healthcare operations</a:t>
            </a:r>
            <a:endParaRPr lang="en-US" sz="1400" dirty="0"/>
          </a:p>
        </p:txBody>
      </p:sp>
      <p:sp>
        <p:nvSpPr>
          <p:cNvPr id="12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Investor Pitch Deck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166534"/>
                </a:solidFill>
              </a:rPr>
              <a:t>5. Product Positioning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Item9"/>
          <p:cNvSpPr txBox="1"/>
          <p:nvPr/>
        </p:nvSpPr>
        <p:spPr>
          <a:xfrm>
            <a:off x="900000" y="140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This gives AfyaLink both immediate workflow value and long-term platform potential.</a:t>
            </a:r>
            <a:endParaRPr lang="en-US" sz="1400" dirty="0"/>
          </a:p>
        </p:txBody>
      </p:sp>
      <p:sp>
        <p:nvSpPr>
          <p:cNvPr id="10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Investor Pitch Deck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166534"/>
                </a:solidFill>
              </a:rPr>
              <a:t>6. Initial Customer Segments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Item9"/>
          <p:cNvSpPr txBox="1"/>
          <p:nvPr/>
        </p:nvSpPr>
        <p:spPr>
          <a:xfrm>
            <a:off x="900000" y="140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Private hospitals and hospital groups</a:t>
            </a:r>
            <a:endParaRPr lang="en-US" sz="1400" dirty="0"/>
          </a:p>
        </p:txBody>
      </p:sp>
      <p:sp>
        <p:nvSpPr>
          <p:cNvPr id="10" name="Item10"/>
          <p:cNvSpPr txBox="1"/>
          <p:nvPr/>
        </p:nvSpPr>
        <p:spPr>
          <a:xfrm>
            <a:off x="900000" y="176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County referral hospitals</a:t>
            </a:r>
            <a:endParaRPr lang="en-US" sz="1400" dirty="0"/>
          </a:p>
        </p:txBody>
      </p:sp>
      <p:sp>
        <p:nvSpPr>
          <p:cNvPr id="11" name="Item11"/>
          <p:cNvSpPr txBox="1"/>
          <p:nvPr/>
        </p:nvSpPr>
        <p:spPr>
          <a:xfrm>
            <a:off x="900000" y="212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Teaching hospitals and university medical centers</a:t>
            </a:r>
            <a:endParaRPr lang="en-US" sz="1400" dirty="0"/>
          </a:p>
        </p:txBody>
      </p:sp>
      <p:sp>
        <p:nvSpPr>
          <p:cNvPr id="12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Investor Pitch Deck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166534"/>
                </a:solidFill>
              </a:rPr>
              <a:t>6. Initial Customer Segments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Item9"/>
          <p:cNvSpPr txBox="1"/>
          <p:nvPr/>
        </p:nvSpPr>
        <p:spPr>
          <a:xfrm>
            <a:off x="900000" y="140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Faith-based and NGO-supported health systems</a:t>
            </a:r>
            <a:endParaRPr lang="en-US" sz="1400" dirty="0"/>
          </a:p>
        </p:txBody>
      </p:sp>
      <p:sp>
        <p:nvSpPr>
          <p:cNvPr id="10" name="Item10"/>
          <p:cNvSpPr txBox="1"/>
          <p:nvPr/>
        </p:nvSpPr>
        <p:spPr>
          <a:xfrm>
            <a:off x="900000" y="176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Multi-branch outpatient networks</a:t>
            </a:r>
            <a:endParaRPr lang="en-US" sz="1400" dirty="0"/>
          </a:p>
        </p:txBody>
      </p:sp>
      <p:sp>
        <p:nvSpPr>
          <p:cNvPr id="11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Investor Pitch Deck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166534"/>
                </a:solidFill>
              </a:rPr>
              <a:t>7. Revenue Paths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Item9"/>
          <p:cNvSpPr txBox="1"/>
          <p:nvPr/>
        </p:nvSpPr>
        <p:spPr>
          <a:xfrm>
            <a:off x="900000" y="140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Potential monetization includes:</a:t>
            </a:r>
            <a:endParaRPr lang="en-US" sz="1400" dirty="0"/>
          </a:p>
        </p:txBody>
      </p:sp>
      <p:sp>
        <p:nvSpPr>
          <p:cNvPr id="10" name="Item10"/>
          <p:cNvSpPr txBox="1"/>
          <p:nvPr/>
        </p:nvSpPr>
        <p:spPr>
          <a:xfrm>
            <a:off x="900000" y="176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SaaS subscriptions per facility or group</a:t>
            </a:r>
            <a:endParaRPr lang="en-US" sz="1400" dirty="0"/>
          </a:p>
        </p:txBody>
      </p:sp>
      <p:sp>
        <p:nvSpPr>
          <p:cNvPr id="11" name="Item11"/>
          <p:cNvSpPr txBox="1"/>
          <p:nvPr/>
        </p:nvSpPr>
        <p:spPr>
          <a:xfrm>
            <a:off x="900000" y="212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Implementation and onboarding packages</a:t>
            </a:r>
            <a:endParaRPr lang="en-US" sz="1400" dirty="0"/>
          </a:p>
        </p:txBody>
      </p:sp>
      <p:sp>
        <p:nvSpPr>
          <p:cNvPr id="12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Investor Pitch Deck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166534"/>
                </a:solidFill>
              </a:rPr>
              <a:t>7. Revenue Paths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Item9"/>
          <p:cNvSpPr txBox="1"/>
          <p:nvPr/>
        </p:nvSpPr>
        <p:spPr>
          <a:xfrm>
            <a:off x="900000" y="140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Premium analytics and command-center modules</a:t>
            </a:r>
            <a:endParaRPr lang="en-US" sz="1400" dirty="0"/>
          </a:p>
        </p:txBody>
      </p:sp>
      <p:sp>
        <p:nvSpPr>
          <p:cNvPr id="10" name="Item10"/>
          <p:cNvSpPr txBox="1"/>
          <p:nvPr/>
        </p:nvSpPr>
        <p:spPr>
          <a:xfrm>
            <a:off x="900000" y="176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Support, training, and change-management services</a:t>
            </a:r>
            <a:endParaRPr lang="en-US" sz="1400" dirty="0"/>
          </a:p>
        </p:txBody>
      </p:sp>
      <p:sp>
        <p:nvSpPr>
          <p:cNvPr id="11" name="Item11"/>
          <p:cNvSpPr txBox="1"/>
          <p:nvPr/>
        </p:nvSpPr>
        <p:spPr>
          <a:xfrm>
            <a:off x="900000" y="212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Interoperability, reporting, and enterprise integration packages</a:t>
            </a:r>
            <a:endParaRPr lang="en-US" sz="1400" dirty="0"/>
          </a:p>
        </p:txBody>
      </p:sp>
      <p:sp>
        <p:nvSpPr>
          <p:cNvPr id="12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Investor Pitch Deck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166534"/>
                </a:solidFill>
              </a:rPr>
              <a:t>8. Traction and Product Readiness Signals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Item9"/>
          <p:cNvSpPr txBox="1"/>
          <p:nvPr/>
        </p:nvSpPr>
        <p:spPr>
          <a:xfrm>
            <a:off x="900000" y="140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Current AfyaLink build and documentation indicate:</a:t>
            </a:r>
            <a:endParaRPr lang="en-US" sz="1400" dirty="0"/>
          </a:p>
        </p:txBody>
      </p:sp>
      <p:sp>
        <p:nvSpPr>
          <p:cNvPr id="10" name="Item10"/>
          <p:cNvSpPr txBox="1"/>
          <p:nvPr/>
        </p:nvSpPr>
        <p:spPr>
          <a:xfrm>
            <a:off x="900000" y="176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Broad multi-role dashboard coverage</a:t>
            </a:r>
            <a:endParaRPr lang="en-US" sz="1400" dirty="0"/>
          </a:p>
        </p:txBody>
      </p:sp>
      <p:sp>
        <p:nvSpPr>
          <p:cNvPr id="11" name="Item11"/>
          <p:cNvSpPr txBox="1"/>
          <p:nvPr/>
        </p:nvSpPr>
        <p:spPr>
          <a:xfrm>
            <a:off x="900000" y="212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Deep workflow planning and execution registry</a:t>
            </a:r>
            <a:endParaRPr lang="en-US" sz="1400" dirty="0"/>
          </a:p>
        </p:txBody>
      </p:sp>
      <p:sp>
        <p:nvSpPr>
          <p:cNvPr id="12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Investor Pitch Deck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166534"/>
                </a:solidFill>
              </a:rPr>
              <a:t>8. Traction and Product Readiness Signals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Item9"/>
          <p:cNvSpPr txBox="1"/>
          <p:nvPr/>
        </p:nvSpPr>
        <p:spPr>
          <a:xfrm>
            <a:off x="900000" y="140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Readiness, failover, and SRE-oriented assets</a:t>
            </a:r>
            <a:endParaRPr lang="en-US" sz="1400" dirty="0"/>
          </a:p>
        </p:txBody>
      </p:sp>
      <p:sp>
        <p:nvSpPr>
          <p:cNvPr id="10" name="Item10"/>
          <p:cNvSpPr txBox="1"/>
          <p:nvPr/>
        </p:nvSpPr>
        <p:spPr>
          <a:xfrm>
            <a:off x="900000" y="176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Training and onboarding playbooks by role</a:t>
            </a:r>
            <a:endParaRPr lang="en-US" sz="1400" dirty="0"/>
          </a:p>
        </p:txBody>
      </p:sp>
      <p:sp>
        <p:nvSpPr>
          <p:cNvPr id="11" name="Item11"/>
          <p:cNvSpPr txBox="1"/>
          <p:nvPr/>
        </p:nvSpPr>
        <p:spPr>
          <a:xfrm>
            <a:off x="900000" y="212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Interoperability and continuity design thinking</a:t>
            </a:r>
            <a:endParaRPr lang="en-US" sz="1400" dirty="0"/>
          </a:p>
        </p:txBody>
      </p:sp>
      <p:sp>
        <p:nvSpPr>
          <p:cNvPr id="12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Investor Pitch Deck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166534"/>
                </a:solidFill>
              </a:rPr>
              <a:t>8. Traction and Product Readiness Signals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Item9"/>
          <p:cNvSpPr txBox="1"/>
          <p:nvPr/>
        </p:nvSpPr>
        <p:spPr>
          <a:xfrm>
            <a:off x="900000" y="140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Expansion hooks for AI-assisted workflows via NeuroEdge integration planning</a:t>
            </a:r>
            <a:endParaRPr lang="en-US" sz="1400" dirty="0"/>
          </a:p>
        </p:txBody>
      </p:sp>
      <p:sp>
        <p:nvSpPr>
          <p:cNvPr id="10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Investor Pitch Deck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166534"/>
                </a:solidFill>
              </a:rPr>
              <a:t>9. Go-to-Market Strategy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H39"/>
          <p:cNvSpPr txBox="1"/>
          <p:nvPr/>
        </p:nvSpPr>
        <p:spPr>
          <a:xfrm>
            <a:off x="800000" y="1400000"/>
            <a:ext cx="9800000" cy="2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 smtClean="0" b="1">
                <a:solidFill>
                  <a:srgbClr val="0F172A"/>
                </a:solidFill>
              </a:rPr>
              <a:t>Phase 1</a:t>
            </a:r>
            <a:endParaRPr lang="en-US" sz="1600" dirty="0"/>
          </a:p>
        </p:txBody>
      </p:sp>
      <p:sp>
        <p:nvSpPr>
          <p:cNvPr id="10" name="Item10"/>
          <p:cNvSpPr txBox="1"/>
          <p:nvPr/>
        </p:nvSpPr>
        <p:spPr>
          <a:xfrm>
            <a:off x="900000" y="172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Pilot with one to three hospitals and validate operational ROI.</a:t>
            </a:r>
            <a:endParaRPr lang="en-US" sz="1400" dirty="0"/>
          </a:p>
        </p:txBody>
      </p:sp>
      <p:sp>
        <p:nvSpPr>
          <p:cNvPr id="11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Investor Pitch Deck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166534"/>
                </a:solidFill>
              </a:rPr>
              <a:t>9. Go-to-Market Strategy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H39"/>
          <p:cNvSpPr txBox="1"/>
          <p:nvPr/>
        </p:nvSpPr>
        <p:spPr>
          <a:xfrm>
            <a:off x="800000" y="1400000"/>
            <a:ext cx="9800000" cy="2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 smtClean="0" b="1">
                <a:solidFill>
                  <a:srgbClr val="0F172A"/>
                </a:solidFill>
              </a:rPr>
              <a:t>Phase 2</a:t>
            </a:r>
            <a:endParaRPr lang="en-US" sz="1600" dirty="0"/>
          </a:p>
        </p:txBody>
      </p:sp>
      <p:sp>
        <p:nvSpPr>
          <p:cNvPr id="10" name="Item10"/>
          <p:cNvSpPr txBox="1"/>
          <p:nvPr/>
        </p:nvSpPr>
        <p:spPr>
          <a:xfrm>
            <a:off x="900000" y="172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Expand into hospital groups, county-level deployments, and teaching hospitals.</a:t>
            </a:r>
            <a:endParaRPr lang="en-US" sz="1400" dirty="0"/>
          </a:p>
        </p:txBody>
      </p:sp>
      <p:sp>
        <p:nvSpPr>
          <p:cNvPr id="11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Investor Pitch Deck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166534"/>
                </a:solidFill>
              </a:rPr>
              <a:t>9. Go-to-Market Strategy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H39"/>
          <p:cNvSpPr txBox="1"/>
          <p:nvPr/>
        </p:nvSpPr>
        <p:spPr>
          <a:xfrm>
            <a:off x="800000" y="1400000"/>
            <a:ext cx="9800000" cy="2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600" dirty="0" smtClean="0" b="1">
                <a:solidFill>
                  <a:srgbClr val="0F172A"/>
                </a:solidFill>
              </a:rPr>
              <a:t>Phase 3</a:t>
            </a:r>
            <a:endParaRPr lang="en-US" sz="1600" dirty="0"/>
          </a:p>
        </p:txBody>
      </p:sp>
      <p:sp>
        <p:nvSpPr>
          <p:cNvPr id="10" name="Item10"/>
          <p:cNvSpPr txBox="1"/>
          <p:nvPr/>
        </p:nvSpPr>
        <p:spPr>
          <a:xfrm>
            <a:off x="900000" y="172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Layer analytics, command-center visibility, and AI-assisted operational tools.</a:t>
            </a:r>
            <a:endParaRPr lang="en-US" sz="1400" dirty="0"/>
          </a:p>
        </p:txBody>
      </p:sp>
      <p:sp>
        <p:nvSpPr>
          <p:cNvPr id="11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Investor Pitch Deck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166534"/>
                </a:solidFill>
              </a:rPr>
              <a:t>10. Investment Use of Funds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Item9"/>
          <p:cNvSpPr txBox="1"/>
          <p:nvPr/>
        </p:nvSpPr>
        <p:spPr>
          <a:xfrm>
            <a:off x="900000" y="140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We are seeking support to accelerate:</a:t>
            </a:r>
            <a:endParaRPr lang="en-US" sz="1400" dirty="0"/>
          </a:p>
        </p:txBody>
      </p:sp>
      <p:sp>
        <p:nvSpPr>
          <p:cNvPr id="10" name="Item10"/>
          <p:cNvSpPr txBox="1"/>
          <p:nvPr/>
        </p:nvSpPr>
        <p:spPr>
          <a:xfrm>
            <a:off x="900000" y="176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Product hardening and deployment readiness</a:t>
            </a:r>
            <a:endParaRPr lang="en-US" sz="1400" dirty="0"/>
          </a:p>
        </p:txBody>
      </p:sp>
      <p:sp>
        <p:nvSpPr>
          <p:cNvPr id="11" name="Item11"/>
          <p:cNvSpPr txBox="1"/>
          <p:nvPr/>
        </p:nvSpPr>
        <p:spPr>
          <a:xfrm>
            <a:off x="900000" y="212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Pilot implementation and onboarding</a:t>
            </a:r>
            <a:endParaRPr lang="en-US" sz="1400" dirty="0"/>
          </a:p>
        </p:txBody>
      </p:sp>
      <p:sp>
        <p:nvSpPr>
          <p:cNvPr id="12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Investor Pitch Deck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166534"/>
                </a:solidFill>
              </a:rPr>
              <a:t>10. Investment Use of Funds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Item9"/>
          <p:cNvSpPr txBox="1"/>
          <p:nvPr/>
        </p:nvSpPr>
        <p:spPr>
          <a:xfrm>
            <a:off x="900000" y="140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Security, compliance, and interoperability maturity</a:t>
            </a:r>
            <a:endParaRPr lang="en-US" sz="1400" dirty="0"/>
          </a:p>
        </p:txBody>
      </p:sp>
      <p:sp>
        <p:nvSpPr>
          <p:cNvPr id="10" name="Item10"/>
          <p:cNvSpPr txBox="1"/>
          <p:nvPr/>
        </p:nvSpPr>
        <p:spPr>
          <a:xfrm>
            <a:off x="900000" y="176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Customer success and field deployment operations</a:t>
            </a:r>
            <a:endParaRPr lang="en-US" sz="1400" dirty="0"/>
          </a:p>
        </p:txBody>
      </p:sp>
      <p:sp>
        <p:nvSpPr>
          <p:cNvPr id="11" name="Item11"/>
          <p:cNvSpPr txBox="1"/>
          <p:nvPr/>
        </p:nvSpPr>
        <p:spPr>
          <a:xfrm>
            <a:off x="900000" y="212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Commercial growth and strategic partnerships</a:t>
            </a:r>
            <a:endParaRPr lang="en-US" sz="1400" dirty="0"/>
          </a:p>
        </p:txBody>
      </p:sp>
      <p:sp>
        <p:nvSpPr>
          <p:cNvPr id="12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Investor Pitch Deck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166534"/>
                </a:solidFill>
              </a:rPr>
              <a:t>11. Why Now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Item9"/>
          <p:cNvSpPr txBox="1"/>
          <p:nvPr/>
        </p:nvSpPr>
        <p:spPr>
          <a:xfrm>
            <a:off x="900000" y="140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Healthcare systems are under pressure to do more with limited staff, tighter oversight, and rising patient expectations.</a:t>
            </a:r>
            <a:endParaRPr lang="en-US" sz="1400" dirty="0"/>
          </a:p>
        </p:txBody>
      </p:sp>
      <p:sp>
        <p:nvSpPr>
          <p:cNvPr id="10" name="Item10"/>
          <p:cNvSpPr txBox="1"/>
          <p:nvPr/>
        </p:nvSpPr>
        <p:spPr>
          <a:xfrm>
            <a:off x="900000" y="176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Hospitals increasingly need operational platforms that unify workflows, not just digital record storage. AfyaLink is designed for that gap.</a:t>
            </a:r>
            <a:endParaRPr lang="en-US" sz="1400" dirty="0"/>
          </a:p>
        </p:txBody>
      </p:sp>
      <p:sp>
        <p:nvSpPr>
          <p:cNvPr id="11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Investor Pitch Deck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166534"/>
                </a:solidFill>
              </a:rPr>
              <a:t>12. Roadmap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Item9"/>
          <p:cNvSpPr txBox="1"/>
          <p:nvPr/>
        </p:nvSpPr>
        <p:spPr>
          <a:xfrm>
            <a:off x="900000" y="140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2026 — Pilot deployments and product hardening</a:t>
            </a:r>
            <a:endParaRPr lang="en-US" sz="1400" dirty="0"/>
          </a:p>
        </p:txBody>
      </p:sp>
      <p:sp>
        <p:nvSpPr>
          <p:cNvPr id="10" name="Item10"/>
          <p:cNvSpPr txBox="1"/>
          <p:nvPr/>
        </p:nvSpPr>
        <p:spPr>
          <a:xfrm>
            <a:off x="900000" y="176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2027 — Multi-facility expansion and recurring revenue growth</a:t>
            </a:r>
            <a:endParaRPr lang="en-US" sz="1400" dirty="0"/>
          </a:p>
        </p:txBody>
      </p:sp>
      <p:sp>
        <p:nvSpPr>
          <p:cNvPr id="11" name="Item11"/>
          <p:cNvSpPr txBox="1"/>
          <p:nvPr/>
        </p:nvSpPr>
        <p:spPr>
          <a:xfrm>
            <a:off x="900000" y="212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2028 — Advanced analytics, continuity scoring, and command-center products</a:t>
            </a:r>
            <a:endParaRPr lang="en-US" sz="1400" dirty="0"/>
          </a:p>
        </p:txBody>
      </p:sp>
      <p:sp>
        <p:nvSpPr>
          <p:cNvPr id="12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Investor Pitch Deck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166534"/>
                </a:solidFill>
              </a:rPr>
              <a:t>12. Roadmap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Item9"/>
          <p:cNvSpPr txBox="1"/>
          <p:nvPr/>
        </p:nvSpPr>
        <p:spPr>
          <a:xfrm>
            <a:off x="900000" y="140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• 2029 — Regional healthcare network expansion</a:t>
            </a:r>
            <a:endParaRPr lang="en-US" sz="1400" dirty="0"/>
          </a:p>
        </p:txBody>
      </p:sp>
      <p:sp>
        <p:nvSpPr>
          <p:cNvPr id="10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aderDark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HeaderPrimary"/>
          <p:cNvSpPr/>
          <p:nvPr/>
        </p:nvSpPr>
        <p:spPr>
          <a:xfrm>
            <a:off x="0" y="300000"/>
            <a:ext cx="12192000" cy="300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HeaderBrand"/>
          <p:cNvSpPr txBox="1"/>
          <p:nvPr/>
        </p:nvSpPr>
        <p:spPr>
          <a:xfrm>
            <a:off x="500000" y="70000"/>
            <a:ext cx="1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100" dirty="0" smtClean="0" b="1">
                <a:solidFill>
                  <a:srgbClr val="FFFFFF"/>
                </a:solidFill>
              </a:rPr>
              <a:t>AFYALINK</a:t>
            </a:r>
            <a:endParaRPr lang="en-US" sz="1100" dirty="0"/>
          </a:p>
        </p:txBody>
      </p:sp>
      <p:sp>
        <p:nvSpPr>
          <p:cNvPr id="6" name="HeaderSub"/>
          <p:cNvSpPr txBox="1"/>
          <p:nvPr/>
        </p:nvSpPr>
        <p:spPr>
          <a:xfrm>
            <a:off x="2500000" y="80000"/>
            <a:ext cx="7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E2E8F0"/>
                </a:solidFill>
              </a:rPr>
              <a:t>Investor Pitch Deck</a:t>
            </a:r>
            <a:endParaRPr lang="en-US" sz="1000" dirty="0"/>
          </a:p>
        </p:txBody>
      </p:sp>
      <p:sp>
        <p:nvSpPr>
          <p:cNvPr id="7" name="Section"/>
          <p:cNvSpPr txBox="1"/>
          <p:nvPr/>
        </p:nvSpPr>
        <p:spPr>
          <a:xfrm>
            <a:off x="700000" y="620000"/>
            <a:ext cx="900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2400" dirty="0" smtClean="0" b="1">
                <a:solidFill>
                  <a:srgbClr val="166534"/>
                </a:solidFill>
              </a:rPr>
              <a:t>13. Closing Statement</a:t>
            </a:r>
            <a:endParaRPr lang="en-US" sz="2400" dirty="0"/>
          </a:p>
        </p:txBody>
      </p:sp>
      <p:sp>
        <p:nvSpPr>
          <p:cNvPr id="8" name="Divider"/>
          <p:cNvSpPr/>
          <p:nvPr/>
        </p:nvSpPr>
        <p:spPr>
          <a:xfrm>
            <a:off x="700000" y="1080000"/>
            <a:ext cx="9800000" cy="500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Item9"/>
          <p:cNvSpPr txBox="1"/>
          <p:nvPr/>
        </p:nvSpPr>
        <p:spPr>
          <a:xfrm>
            <a:off x="900000" y="140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AfyaLink is building core healthcare operations infrastructure for hospitals that need better coordination, governance, and scalability.</a:t>
            </a:r>
            <a:endParaRPr lang="en-US" sz="1400" dirty="0"/>
          </a:p>
        </p:txBody>
      </p:sp>
      <p:sp>
        <p:nvSpPr>
          <p:cNvPr id="10" name="Item10"/>
          <p:cNvSpPr txBox="1"/>
          <p:nvPr/>
        </p:nvSpPr>
        <p:spPr>
          <a:xfrm>
            <a:off x="900000" y="1760000"/>
            <a:ext cx="96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334155"/>
                </a:solidFill>
              </a:rPr>
              <a:t>We are looking for investors and strategic partners who want to back practical, high-impact digital health infrastructure for Africa.</a:t>
            </a:r>
            <a:endParaRPr lang="en-US" sz="1400" dirty="0"/>
          </a:p>
        </p:txBody>
      </p:sp>
      <p:sp>
        <p:nvSpPr>
          <p:cNvPr id="11" name="RibbonBlack"/>
          <p:cNvSpPr/>
          <p:nvPr/>
        </p:nvSpPr>
        <p:spPr>
          <a:xfrm>
            <a:off x="0" y="6608000"/>
            <a:ext cx="12192000" cy="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ibbonRed"/>
          <p:cNvSpPr/>
          <p:nvPr/>
        </p:nvSpPr>
        <p:spPr>
          <a:xfrm>
            <a:off x="0" y="6688000"/>
            <a:ext cx="12192000" cy="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bbonGreen"/>
          <p:cNvSpPr/>
          <p:nvPr/>
        </p:nvSpPr>
        <p:spPr>
          <a:xfrm>
            <a:off x="0" y="6768000"/>
            <a:ext cx="12192000" cy="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Page"/>
          <p:cNvSpPr txBox="1"/>
          <p:nvPr/>
        </p:nvSpPr>
        <p:spPr>
          <a:xfrm>
            <a:off x="5800000" y="6438000"/>
            <a:ext cx="6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1000" dirty="0" smtClean="0">
                <a:solidFill>
                  <a:srgbClr val="64748B"/>
                </a:solidFill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fyaLink Theme">
  <a:themeElements>
    <a:clrScheme name="Custom">
      <a:dk1>
        <a:srgbClr val="000000"/>
      </a:dk1>
      <a:lt1>
        <a:srgbClr val="FFFFFF"/>
      </a:lt1>
      <a:dk2>
        <a:srgbClr val="1F2937"/>
      </a:dk2>
      <a:lt2>
        <a:srgbClr val="F8FAFC"/>
      </a:lt2>
      <a:accent1>
        <a:srgbClr val="0F766E"/>
      </a:accent1>
      <a:accent2>
        <a:srgbClr val="14B8A6"/>
      </a:accent2>
      <a:accent3>
        <a:srgbClr val="1D4ED8"/>
      </a:accent3>
      <a:accent4>
        <a:srgbClr val="166534"/>
      </a:accent4>
      <a:accent5>
        <a:srgbClr val="DC2626"/>
      </a:accent5>
      <a:accent6>
        <a:srgbClr val="16A34A"/>
      </a:accent6>
      <a:hlink>
        <a:srgbClr val="2563EB"/>
      </a:hlink>
      <a:folHlink>
        <a:srgbClr val="7C3AED"/>
      </a:folHlink>
    </a:clrScheme>
    <a:fontScheme name="Office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</a:ln>
      </a:lnStyleLst>
      <a:effectStyleLst>
        <a:effectStyle/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AfyaLink Proposal Deck</dc:title>
  <dc:creator>OpenAI Codex</dc:creator>
</cp:coreProperties>
</file>